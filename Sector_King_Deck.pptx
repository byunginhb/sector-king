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시총(T$)</c:v>
                </c:pt>
              </c:strCache>
            </c:strRef>
          </c:tx>
          <c:spPr>
            <a:solidFill>
              <a:srgbClr val="E7B469"/>
            </a:solidFill>
            <a:effectLst/>
          </c:spPr>
          <c:invertIfNegative val="0"/>
          <c:dLbls>
            <c:numFmt formatCode="&quot;$&quot;0.0&quot;T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6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테크</c:v>
                  </c:pt>
                  <c:pt idx="1">
                    <c:v>소비재</c:v>
                  </c:pt>
                  <c:pt idx="2">
                    <c:v>방산/항공우주</c:v>
                  </c:pt>
                  <c:pt idx="3">
                    <c:v>금융</c:v>
                  </c:pt>
                  <c:pt idx="4">
                    <c:v>헬스케어</c:v>
                  </c:pt>
                  <c:pt idx="5">
                    <c:v>에너지/자원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50.57</c:v>
                </c:pt>
                <c:pt idx="1">
                  <c:v>23.49</c:v>
                </c:pt>
                <c:pt idx="2">
                  <c:v>18.75</c:v>
                </c:pt>
                <c:pt idx="3">
                  <c:v>8.29</c:v>
                </c:pt>
                <c:pt idx="4">
                  <c:v>6.52</c:v>
                </c:pt>
                <c:pt idx="5">
                  <c:v>5.42</c:v>
                </c:pt>
              </c:numCache>
            </c:numRef>
          </c:val>
        </c:ser>
        <c:dLbls>
          <c:numFmt formatCode="&quot;$&quot;0.0&quot;T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4F6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4B0C0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b"/>
        <c:majorGridlines>
          <c:spPr>
            <a:ln w="6350" cap="flat">
              <a:solidFill>
                <a:srgbClr val="222B39"/>
              </a:solidFill>
              <a:prstDash val="solid"/>
              <a:round/>
            </a:ln>
          </c:spPr>
        </c:majorGridlines>
        <c:numFmt formatCode="&quot;$&quot;0&quot;T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9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D14"/>
        </a:solidFill>
        <a:ln>
          <a:noFill/>
        </a:ln>
        <a:effectLst/>
      </c:spPr>
    </c:plotArea>
    <c:plotVisOnly val="1"/>
    <c:dispBlanksAs val="span"/>
  </c:chart>
  <c:spPr>
    <a:solidFill>
      <a:srgbClr val="0A0D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B469"/>
              </a:solidFill>
              <a:effectLst/>
            </c:spPr>
          </c:dPt>
          <c:dPt>
            <c:idx val="1"/>
            <c:bubble3D val="0"/>
            <c:spPr>
              <a:solidFill>
                <a:srgbClr val="63B7E6"/>
              </a:solidFill>
              <a:effectLst/>
            </c:spPr>
          </c:dPt>
          <c:dPt>
            <c:idx val="2"/>
            <c:bubble3D val="0"/>
            <c:spPr>
              <a:solidFill>
                <a:srgbClr val="57D6A0"/>
              </a:solidFill>
              <a:effectLst/>
            </c:spPr>
          </c:dPt>
          <c:dPt>
            <c:idx val="3"/>
            <c:bubble3D val="0"/>
            <c:spPr>
              <a:solidFill>
                <a:srgbClr val="9B8C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D1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D1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D1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A0D14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규모</c:v>
                </c:pt>
                <c:pt idx="1">
                  <c:v>성장</c:v>
                </c:pt>
                <c:pt idx="2">
                  <c:v>수익성</c:v>
                </c:pt>
                <c:pt idx="3">
                  <c:v>시장평가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0A0D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B469"/>
          </a:solidFill>
          <a:ln/>
        </p:spPr>
      </p:sp>
      <p:pic>
        <p:nvPicPr>
          <p:cNvPr id="3" name="Image 0" descr="./c3_home_top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rcRect l="0" r="0" t="0" b="0"/>
          <a:stretch/>
        </p:blipFill>
        <p:spPr>
          <a:xfrm>
            <a:off x="6126480" y="1371600"/>
            <a:ext cx="5943600" cy="3712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A0D14">
              <a:alpha val="4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77240" y="731520"/>
            <a:ext cx="146304" cy="146304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6" name="Shape 3"/>
          <p:cNvSpPr/>
          <p:nvPr/>
        </p:nvSpPr>
        <p:spPr>
          <a:xfrm>
            <a:off x="978408" y="731520"/>
            <a:ext cx="146304" cy="146304"/>
          </a:xfrm>
          <a:prstGeom prst="rect">
            <a:avLst/>
          </a:prstGeom>
          <a:solidFill>
            <a:srgbClr val="E7B469"/>
          </a:solidFill>
          <a:ln w="12700">
            <a:solidFill>
              <a:srgbClr val="E7B4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34440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THE MAP OF CAPITAL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시장의 돈이 </a:t>
            </a:r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어디로</a:t>
            </a:r>
            <a:pPr algn="l"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흐르는가.</a:t>
            </a:r>
            <a:endParaRPr lang="en-US" sz="42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200" b="1" i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산업·섹터·종목 단위로.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04672" y="4434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미국·한국 407개 종목을 산업→섹터→종목으로 추적하는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멀티산업 자본 흐름 대시보드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120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$68.72T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2960" y="5650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추적 종목 시총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108960" y="5120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108960" y="5650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추적 산업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94960" y="5120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407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394960" y="5650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추적 종목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4A546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투자자 · 초기 합류자 대상 소개 자료    |    2026.06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장으로 보는 Sector 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39112"/>
            <a:ext cx="64008" cy="140817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939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551176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미국·한국 407개 종목을 산업·섹터·종목 4계층으로 추적하는 웹 대시보드. 매일 아침 마켓 리포트 이메일까지.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039112"/>
            <a:ext cx="64008" cy="1408176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20939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B7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다른가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01968" y="2551176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한국(₩)·미국($) 혼합 통화를 USD로 정규화해 공정 비교. + 패권점수 100점으로 산업 내 지위 정량화.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187952"/>
            <a:ext cx="64008" cy="1408176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242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누구에게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" y="4700016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한·미 주식을 함께 보는 개인 투자자. ‘종목 나열’이 아니라 ‘돈의 흐름’을 원하는 사용자.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402336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4187952"/>
            <a:ext cx="64008" cy="1408176"/>
          </a:xfrm>
          <a:prstGeom prst="rect">
            <a:avLst/>
          </a:prstGeom>
          <a:solidFill>
            <a:srgbClr val="9B8CF0"/>
          </a:solidFill>
          <a:ln/>
        </p:spPr>
      </p:sp>
      <p:sp>
        <p:nvSpPr>
          <p:cNvPr id="19" name="Text 17"/>
          <p:cNvSpPr/>
          <p:nvPr/>
        </p:nvSpPr>
        <p:spPr>
          <a:xfrm>
            <a:off x="6601968" y="4242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8C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단계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01968" y="4700016"/>
            <a:ext cx="4690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7개 기능 페이지 라이브 가동(프리런치). 하루 2회 자동 갱신 · 매일 마켓 리포트 발송 중.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80160" y="5897880"/>
            <a:ext cx="9628632" cy="502920"/>
          </a:xfrm>
          <a:prstGeom prst="roundRect">
            <a:avLst>
              <a:gd name="adj" fmla="val 49091"/>
            </a:avLst>
          </a:prstGeom>
          <a:solidFill>
            <a:srgbClr val="202938"/>
          </a:solidFill>
          <a:ln w="12700">
            <a:solidFill>
              <a:srgbClr val="E7B4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5897880"/>
            <a:ext cx="9628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우리가 요청하는 것   </a:t>
            </a:r>
            <a:pPr algn="ctr" indent="0" marL="0">
              <a:buNone/>
            </a:pPr>
            <a:r>
              <a:rPr lang="en-US" sz="1250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엔젤·시드 미팅 · 초기 합류(프론트엔드·데이터) · 파일럿 협업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돈이 어디로 흐르는지, 한눈에 보이지 않는다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개별 종목 정보는 넘치지만 — ‘산업 단위의 자금 이동’은 직접 합산해야 보인다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459736"/>
            <a:ext cx="676656" cy="676656"/>
          </a:xfrm>
          <a:prstGeom prst="ellipse">
            <a:avLst/>
          </a:prstGeom>
          <a:solidFill>
            <a:srgbClr val="0E121A"/>
          </a:solidFill>
          <a:ln w="19050">
            <a:solidFill>
              <a:srgbClr val="E7B4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45973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41248" y="33375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종목 단위에 갇힌 시야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41248" y="411480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대부분의 도구는 개별 종목 차트·뉴스 중심. ‘지금 돈이 헬스케어에서 빠져 방산으로 가는가?’ 같은 산업 흐름은 보이지 않는다.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21488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2459736"/>
            <a:ext cx="676656" cy="676656"/>
          </a:xfrm>
          <a:prstGeom prst="ellipse">
            <a:avLst/>
          </a:prstGeom>
          <a:solidFill>
            <a:srgbClr val="0E121A"/>
          </a:solidFill>
          <a:ln w="19050">
            <a:solidFill>
              <a:srgbClr val="E7B4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45973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27448" y="33375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한·미 통화의 단절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727448" y="411480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원화 종목과 달러 종목이 한 섹터에 섞이면 시총·점유율 비교가 통화 때문에 왜곡된다. 정규화 없이는 ‘사과와 오렌지’ 비교.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21040" y="214884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13648" y="2459736"/>
            <a:ext cx="676656" cy="676656"/>
          </a:xfrm>
          <a:prstGeom prst="ellipse">
            <a:avLst/>
          </a:prstGeom>
          <a:solidFill>
            <a:srgbClr val="0E121A"/>
          </a:solidFill>
          <a:ln w="19050">
            <a:solidFill>
              <a:srgbClr val="E7B4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13648" y="2459736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13648" y="3337560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비교 가능한 단일 기준 부재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613648" y="411480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어느 산업이 뜨고 지는지, 어떤 종목이 섹터를 지배하는지 — 동일 기준의 점수·랭킹이 없다.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통화 왜곡은 업계 공통의 함정이다 — 우리는 이를 구조적으로 해결했다 (→ 차별화 ①).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4계층으로 자본의 흐름을 따라간다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6276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 → 카테고리 → 섹터 → 기업 · 위에서 아래로 좁혀가며 모든 계층을 동일한 USD 기준으로 합산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2468880" cy="8229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INDUSTRY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715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</a:t>
            </a:r>
            <a:pPr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(테크 기준)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35808" y="2606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401568" y="2148840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01568" y="2148840"/>
            <a:ext cx="2468880" cy="82296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14" name="Text 12"/>
          <p:cNvSpPr/>
          <p:nvPr/>
        </p:nvSpPr>
        <p:spPr>
          <a:xfrm>
            <a:off x="3630168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3B7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0168" y="2715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30168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13개</a:t>
            </a:r>
            <a:pPr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(테크 기준)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88736" y="2606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54496" y="2148840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2148840"/>
            <a:ext cx="2468880" cy="82296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83096" y="2715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섹터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83096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47개</a:t>
            </a:r>
            <a:pPr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(테크 기준)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41664" y="2606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107424" y="2148840"/>
            <a:ext cx="2468880" cy="18288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07424" y="2148840"/>
            <a:ext cx="2468880" cy="82296"/>
          </a:xfrm>
          <a:prstGeom prst="rect">
            <a:avLst/>
          </a:prstGeom>
          <a:solidFill>
            <a:srgbClr val="9B8CF0"/>
          </a:solidFill>
          <a:ln/>
        </p:spPr>
      </p:sp>
      <p:sp>
        <p:nvSpPr>
          <p:cNvPr id="26" name="Text 24"/>
          <p:cNvSpPr/>
          <p:nvPr/>
        </p:nvSpPr>
        <p:spPr>
          <a:xfrm>
            <a:off x="9336024" y="2404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8C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COMPANY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36024" y="27157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기업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336024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174개</a:t>
            </a:r>
            <a:pPr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(테크 기준)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4224528"/>
            <a:ext cx="7315200" cy="2240280"/>
          </a:xfrm>
          <a:prstGeom prst="roundRect">
            <a:avLst>
              <a:gd name="adj" fmla="val 3673"/>
            </a:avLst>
          </a:prstGeom>
          <a:solidFill>
            <a:srgbClr val="1A212D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30" name="Image 0" descr="./c3_tech_map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4315968"/>
            <a:ext cx="7132320" cy="20574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8092440" y="4224528"/>
            <a:ext cx="3547872" cy="2240280"/>
          </a:xfrm>
          <a:prstGeom prst="roundRect">
            <a:avLst>
              <a:gd name="adj" fmla="val 367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321040" y="4407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무엇이 좋은가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321040" y="48006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화면에서 ‘어느 산업에 자본이 쏠려 있고’, ‘그 안에서 누가 1위인지’까지 클릭으로 내려간다.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테크 = 13카테고리 / 47섹터 / 174기업으로 구조화돼 있다.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 ·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아침에 한 화면으로 시장의 맥을 짚는다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추적 시총 · 핫 섹터 · 최대 자금 이동 · Hot Tickers · 에디터 마켓 리포트 — 그리고 매일 아침 이메일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7452360" cy="4160520"/>
          </a:xfrm>
          <a:prstGeom prst="roundRect">
            <a:avLst>
              <a:gd name="adj" fmla="val 1978"/>
            </a:avLst>
          </a:prstGeom>
          <a:solidFill>
            <a:srgbClr val="1A212D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./c3_home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03120"/>
            <a:ext cx="726948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2011680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0" y="2139696"/>
            <a:ext cx="64008" cy="704088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10" name="Text 7"/>
          <p:cNvSpPr/>
          <p:nvPr/>
        </p:nvSpPr>
        <p:spPr>
          <a:xfrm>
            <a:off x="8467344" y="2130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Market Pulse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467344" y="24323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추적 시총 $68.72T · 전일 +0.09% · 핫 섹터 DDR · 최대 이동 테크 −$1.2T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0" y="3081528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0" y="3209544"/>
            <a:ext cx="64008" cy="704088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14" name="Text 11"/>
          <p:cNvSpPr/>
          <p:nvPr/>
        </p:nvSpPr>
        <p:spPr>
          <a:xfrm>
            <a:off x="8467344" y="3200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Hot Tickers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467344" y="35021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가장 움직인 종목 — LIG넥스원 +18.58%, 웨스턴디지털 +16.10% …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229600" y="4151376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0" y="4279392"/>
            <a:ext cx="64008" cy="704088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18" name="Text 15"/>
          <p:cNvSpPr/>
          <p:nvPr/>
        </p:nvSpPr>
        <p:spPr>
          <a:xfrm>
            <a:off x="8467344" y="42702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에디터 마켓 리포트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467344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‘평화가 유가를 누른 날’ — 사람이 쓴 해설 + 한국 종목 의견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29600" y="5221224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229600" y="5349240"/>
            <a:ext cx="64008" cy="704088"/>
          </a:xfrm>
          <a:prstGeom prst="rect">
            <a:avLst/>
          </a:prstGeom>
          <a:solidFill>
            <a:srgbClr val="9B8CF0"/>
          </a:solidFill>
          <a:ln/>
        </p:spPr>
      </p:sp>
      <p:sp>
        <p:nvSpPr>
          <p:cNvPr id="22" name="Text 19"/>
          <p:cNvSpPr/>
          <p:nvPr/>
        </p:nvSpPr>
        <p:spPr>
          <a:xfrm>
            <a:off x="8467344" y="5340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매일 아침 이메일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467344" y="56418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 핵심을 한 통의 메일로 — 재방문을 만드는 후크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 · HEGEMONY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8개 산업, 자본의 무게를 지도로 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산업별 시총 규모를 동일 USD 기준으로 비교 — ‘지도=규모’, ‘패권점수=종합 지위’로 역할을 분리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1031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2103120"/>
            <a:ext cx="3886200" cy="4114800"/>
          </a:xfrm>
          <a:prstGeom prst="roundRect">
            <a:avLst>
              <a:gd name="adj" fmla="val 2118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28432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지도에서 무엇을 읽나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28432" y="2852928"/>
            <a:ext cx="34015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테크가 $50T+로 추적 자본의 과반을 차지 — 자본이 어디에 쏠려 있는지 즉시 보인다.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산업을 클릭하면 카테고리 → 섹터 → 기업으로 드릴다운, 각 계층의 1위(‘대장주’)를 확인.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 부동산/리츠 · 모빌리티/운송 · 인프라/산업재까지 총 8개 산업.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 · MONEY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기간별로, 어느 섹터로 자본이 쏠리는가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기간 1·3·7·14·30일 + MFI(매매강도). ‘자금 흐름 = 기간 시가총액 변화액’ — 실제 순매수 자금이 아니라는 정의를 명시한다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7040880" cy="3931920"/>
          </a:xfrm>
          <a:prstGeom prst="roundRect">
            <a:avLst>
              <a:gd name="adj" fmla="val 2093"/>
            </a:avLst>
          </a:prstGeom>
          <a:solidFill>
            <a:srgbClr val="1A212D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./crop_mf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331720"/>
            <a:ext cx="68580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2240280"/>
            <a:ext cx="3840480" cy="1847088"/>
          </a:xfrm>
          <a:prstGeom prst="roundRect">
            <a:avLst>
              <a:gd name="adj" fmla="val 445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55864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14일 산업 자금 (시총 Δ)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55864" y="27614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▲ 유입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금융 +$306.8B · 헬스케어 +$248.1B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55864" y="33101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72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▼ 유출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테크 −$1.2T · 방산 −$608.4B · 소비재 −$537.9B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18120" y="4224528"/>
            <a:ext cx="3840480" cy="1947672"/>
          </a:xfrm>
          <a:prstGeom prst="roundRect">
            <a:avLst>
              <a:gd name="adj" fmla="val 4225"/>
            </a:avLst>
          </a:prstGeom>
          <a:solidFill>
            <a:srgbClr val="202938"/>
          </a:solidFill>
          <a:ln w="12700">
            <a:solidFill>
              <a:srgbClr val="E7B4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55864" y="4389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정직한 라벨링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55864" y="4736592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‘자금 흐름’은 기간 동안의 시가총액 변화액이며 실제 순매수(거래대금)가 아니다. 화면에도 동일하게 명시한다. MFI(0~100)는 고가·저가·종가 기반의 매매 강도 지표로 별도 제공한다.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 · TRENDS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등락율과 섹터 트렌드를 한 번에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상위 종목 변화율 랭킹(등락율) + 섹터·카테고리 시총 추이와 성장률 Top/Bottom(트렌드)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532120" cy="2788920"/>
          </a:xfrm>
          <a:prstGeom prst="roundRect">
            <a:avLst>
              <a:gd name="adj" fmla="val 2951"/>
            </a:avLst>
          </a:prstGeom>
          <a:solidFill>
            <a:srgbClr val="1A212D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./c3_price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94560"/>
            <a:ext cx="534924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99632" y="2103120"/>
            <a:ext cx="5440680" cy="2788920"/>
          </a:xfrm>
          <a:prstGeom prst="roundRect">
            <a:avLst>
              <a:gd name="adj" fmla="val 2951"/>
            </a:avLst>
          </a:prstGeom>
          <a:solidFill>
            <a:srgbClr val="1A212D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./c3_statistics_t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1072" y="2194560"/>
            <a:ext cx="5257800" cy="2606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4956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등락율 — 상위 20개 변화율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99632" y="4956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기업·섹터 트렌드 — 시총 추이·성장률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534924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77240" y="534924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발견하는 것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테크 등락율 상위 — SK하이닉스 +197.75% · 인텔 +191.92% · 마이크론 +165.80%.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성장 섹터 — 장비 · DDR · 메모리 · HBM · 파운드리가 상위권.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PRODUCT · STOCK DETAIL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종목 하나를, 섹터 안에서 입체적으로 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가격·패권점수·재무·밸류에이션·섹터 내 포지션을 한 페이지에 — 예: 엔비디아(NVDA)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7040880" cy="4114800"/>
          </a:xfrm>
          <a:prstGeom prst="roundRect">
            <a:avLst>
              <a:gd name="adj" fmla="val 2000"/>
            </a:avLst>
          </a:prstGeom>
          <a:solidFill>
            <a:srgbClr val="1A212D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./c3_stock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48840"/>
            <a:ext cx="68580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2057400"/>
            <a:ext cx="3840480" cy="896112"/>
          </a:xfrm>
          <a:prstGeom prst="roundRect">
            <a:avLst>
              <a:gd name="adj" fmla="val 9184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55864" y="21762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86.2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829800" y="217627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패권 점수 / 100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18120" y="3063240"/>
            <a:ext cx="3840480" cy="896112"/>
          </a:xfrm>
          <a:prstGeom prst="roundRect">
            <a:avLst>
              <a:gd name="adj" fmla="val 9184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55864" y="31821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7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+40.7%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9829800" y="31821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목표주가 상승여력 *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18120" y="4069080"/>
            <a:ext cx="3840480" cy="896112"/>
          </a:xfrm>
          <a:prstGeom prst="roundRect">
            <a:avLst>
              <a:gd name="adj" fmla="val 9184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055864" y="41879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3B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$5.15T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9829800" y="41879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시가총액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18120" y="5074920"/>
            <a:ext cx="3840480" cy="896112"/>
          </a:xfrm>
          <a:prstGeom prst="roundRect">
            <a:avLst>
              <a:gd name="adj" fmla="val 9184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55864" y="51937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B8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9829800" y="519379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멀티섹터 1위 (GPU·로봇·자율주행)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18120" y="6053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* 상승여력 = 애널리스트 컨센서스 목표가($298.93, 59명) 대비 / yfinance 집계. 투자 권유 아님.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DIFFERENTIATION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통화가 섞여도, 비교는 공정해야 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한국(₩)·미국($) 혼합 섹터를 단일 USD 기준으로 정규화 — 이것이 핵심 해자(moat)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종목, 같은 섹터 점유율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MU(마이크론) 섹터 시총 점유율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2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정규화 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54864" cy="411480"/>
          </a:xfrm>
          <a:prstGeom prst="rect">
            <a:avLst/>
          </a:prstGeom>
          <a:solidFill>
            <a:srgbClr val="F072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2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950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통화 미정규화 → 원화 raw값이 뒤섞여 사실상 무의미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정규화 후 (toUsd)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754880"/>
            <a:ext cx="4446209" cy="457200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54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29.77%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53218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지배력이 드러난다 — 잘못된 투자 판단을 막는 차이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2148840"/>
            <a:ext cx="5650992" cy="4023360"/>
          </a:xfrm>
          <a:prstGeom prst="roundRect">
            <a:avLst>
              <a:gd name="adj" fmla="val 204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36208" y="23591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어떻게 — 단일 진실 공급원(SoT)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2880360"/>
            <a:ext cx="146304" cy="146304"/>
          </a:xfrm>
          <a:prstGeom prst="ellipse">
            <a:avLst/>
          </a:prstGeom>
          <a:solidFill>
            <a:srgbClr val="63B7E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779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가격·시총 필드를 toUsd()로 변환 후 합산·비교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593592"/>
            <a:ext cx="146304" cy="146304"/>
          </a:xfrm>
          <a:prstGeom prst="ellipse">
            <a:avLst/>
          </a:prstGeom>
          <a:solidFill>
            <a:srgbClr val="57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493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환율 상수를 lib/currency.ts 한 곳에서 관리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38770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Python(수집) · TypeScript(표시)가 동일 기준 공유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553712"/>
            <a:ext cx="146304" cy="146304"/>
          </a:xfrm>
          <a:prstGeom prst="ellipse">
            <a:avLst/>
          </a:prstGeom>
          <a:solidFill>
            <a:srgbClr val="E7B469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453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거래소 추가 시 한 파일만 수정 — 이중 환산 버그 차단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36208" y="544068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0E121A"/>
          </a:solidFill>
          <a:ln w="12700">
            <a:solidFill>
              <a:srgbClr val="E7B4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54406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CE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비즈니스 가치: 한·미를 한 화면에서 비교 — 경쟁 도구가 잘 하지 않는 영역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DIFFERENTIATION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 내 지위를 100점으로 정량화 — 패권점수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규모·성장·수익성·시장평가 4개 축의 가중 합산 (0~100)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94560"/>
          <a:ext cx="3931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600200" y="3611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pPr algn="ctr" indent="0" marL="0">
              <a:lnSpc>
                <a:spcPct val="90000"/>
              </a:lnSpc>
              <a:buNone/>
            </a:pPr>
            <a:endParaRPr lang="en-US" sz="34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 만점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4937760" y="2240280"/>
            <a:ext cx="6675120" cy="841248"/>
          </a:xfrm>
          <a:prstGeom prst="roundRect">
            <a:avLst>
              <a:gd name="adj" fmla="val 978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2350008"/>
            <a:ext cx="64008" cy="621792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10" name="Text 7"/>
          <p:cNvSpPr/>
          <p:nvPr/>
        </p:nvSpPr>
        <p:spPr>
          <a:xfrm>
            <a:off x="5193792" y="23591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규모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241280" y="233172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75120" y="235915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시총 점유율 + 거래량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937760" y="3172968"/>
            <a:ext cx="6675120" cy="841248"/>
          </a:xfrm>
          <a:prstGeom prst="roundRect">
            <a:avLst>
              <a:gd name="adj" fmla="val 978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3282696"/>
            <a:ext cx="64008" cy="621792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15" name="Text 12"/>
          <p:cNvSpPr/>
          <p:nvPr/>
        </p:nvSpPr>
        <p:spPr>
          <a:xfrm>
            <a:off x="5193792" y="329184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성장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0241280" y="32644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63B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675120" y="329184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매출·이익(EPS) 성장률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937760" y="4105656"/>
            <a:ext cx="6675120" cy="841248"/>
          </a:xfrm>
          <a:prstGeom prst="roundRect">
            <a:avLst>
              <a:gd name="adj" fmla="val 978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937760" y="4215384"/>
            <a:ext cx="64008" cy="621792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20" name="Text 17"/>
          <p:cNvSpPr/>
          <p:nvPr/>
        </p:nvSpPr>
        <p:spPr>
          <a:xfrm>
            <a:off x="5193792" y="42245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수익성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0241280" y="419709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7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675120" y="422452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영업이익률 + ROE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5038344"/>
            <a:ext cx="6675120" cy="841248"/>
          </a:xfrm>
          <a:prstGeom prst="roundRect">
            <a:avLst>
              <a:gd name="adj" fmla="val 978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937760" y="5148072"/>
            <a:ext cx="64008" cy="621792"/>
          </a:xfrm>
          <a:prstGeom prst="rect">
            <a:avLst/>
          </a:prstGeom>
          <a:solidFill>
            <a:srgbClr val="9B8CF0"/>
          </a:solidFill>
          <a:ln/>
        </p:spPr>
      </p:sp>
      <p:sp>
        <p:nvSpPr>
          <p:cNvPr id="25" name="Text 22"/>
          <p:cNvSpPr/>
          <p:nvPr/>
        </p:nvSpPr>
        <p:spPr>
          <a:xfrm>
            <a:off x="5193792" y="515721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시장평가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0241280" y="512978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9B8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6675120" y="515721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애널리스트 목표가·상승여력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37760" y="60533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가중치는 현재 휴리스틱(전문가 설계값)이며, 사용자 피드백·백테스트로 검증·보정해 나갈 예정.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DIFFERENTIATION 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노이즈를 걷어낸 추세 — EMA 시계열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패권점수를 EMA(α=0.3)로 스무딩해 약 60일+ 중장기 추세를 본다 · 지역·통화 필터를 전 페이지 일관 적용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7498080" cy="2788920"/>
          </a:xfrm>
          <a:prstGeom prst="roundRect">
            <a:avLst>
              <a:gd name="adj" fmla="val 2951"/>
            </a:avLst>
          </a:prstGeom>
          <a:solidFill>
            <a:srgbClr val="1A212D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./crop_scor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240280"/>
            <a:ext cx="731520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0" y="2148840"/>
            <a:ext cx="3383280" cy="1298448"/>
          </a:xfrm>
          <a:prstGeom prst="roundRect">
            <a:avLst>
              <a:gd name="adj" fmla="val 6338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75320" y="2295144"/>
            <a:ext cx="64008" cy="1005840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10" name="Text 7"/>
          <p:cNvSpPr/>
          <p:nvPr/>
        </p:nvSpPr>
        <p:spPr>
          <a:xfrm>
            <a:off x="8513064" y="23134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EMA 스무딩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13064" y="2660904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지수이동평균(α=0.3)으로 일일 노이즈 제거 → ‘지배력의 방향’을 본다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75320" y="3557016"/>
            <a:ext cx="3383280" cy="1298448"/>
          </a:xfrm>
          <a:prstGeom prst="roundRect">
            <a:avLst>
              <a:gd name="adj" fmla="val 6338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75320" y="3703320"/>
            <a:ext cx="64008" cy="1005840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14" name="Text 11"/>
          <p:cNvSpPr/>
          <p:nvPr/>
        </p:nvSpPr>
        <p:spPr>
          <a:xfrm>
            <a:off x="8513064" y="37216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MFI 매매강도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13064" y="406908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고가·저가·종가 기반 0~100 지표로 흐름의 ‘세기’까지 표현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965192"/>
            <a:ext cx="3383280" cy="1298448"/>
          </a:xfrm>
          <a:prstGeom prst="roundRect">
            <a:avLst>
              <a:gd name="adj" fmla="val 6338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75320" y="5111496"/>
            <a:ext cx="64008" cy="1005840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18" name="Text 15"/>
          <p:cNvSpPr/>
          <p:nvPr/>
        </p:nvSpPr>
        <p:spPr>
          <a:xfrm>
            <a:off x="8513064" y="5129784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지역·통화 토글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513064" y="5477256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전체/한국/글로벌 + ₩/$ 전환을 모든 페이지에 일관 적용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5074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CE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NVDA 점수는 최근 62일간 76→86점대로 완만한 우상향 — 단기 등락이 아닌 구조적 강세.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5486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α(평활계수)는 반응성과 안정성의 균형값이며 향후 검증으로 보정 예정.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DATA &amp; 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‘전체 시장’이 아니라, 엄선한 407종목입니다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정직한 범위 정의가 신뢰의 출발점 — 한계를 가이드에 투명하게 공개한다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858000" cy="4069080"/>
          </a:xfrm>
          <a:prstGeom prst="roundRect">
            <a:avLst>
              <a:gd name="adj" fmla="val 2022"/>
            </a:avLst>
          </a:prstGeom>
          <a:solidFill>
            <a:srgbClr val="1A212D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./c3_guide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94560"/>
            <a:ext cx="6675120" cy="3886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2103120"/>
            <a:ext cx="4023360" cy="932688"/>
          </a:xfrm>
          <a:prstGeom prst="roundRect">
            <a:avLst>
              <a:gd name="adj" fmla="val 8824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72984" y="221284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407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509760" y="221284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추적 종목 — 시총·섹터 대표성으로 엄선 (전체 시장 아님)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35240" y="3145536"/>
            <a:ext cx="4023360" cy="932688"/>
          </a:xfrm>
          <a:prstGeom prst="roundRect">
            <a:avLst>
              <a:gd name="adj" fmla="val 8824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72984" y="3255264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3B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미국·한국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509760" y="3255264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 범위는 양국 상장 종목으로 한정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35240" y="4187952"/>
            <a:ext cx="4023360" cy="932688"/>
          </a:xfrm>
          <a:prstGeom prst="roundRect">
            <a:avLst>
              <a:gd name="adj" fmla="val 8824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72984" y="42976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7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2회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509760" y="4297680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KST 16:30 / 익일 07:00 갱신 — 실시간 아님(명시)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635240" y="5230368"/>
            <a:ext cx="4023360" cy="932688"/>
          </a:xfrm>
          <a:prstGeom prst="roundRect">
            <a:avLst>
              <a:gd name="adj" fmla="val 8824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72984" y="5340096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B8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₩1,450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509760" y="534009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달러 표시는 고정환율 환산 (표시 전용, 분석 왜곡 없음)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최신 풀스택 위에 도는, 하루 두 번의 파이프라인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 → 정규화·점수화 → 저장 → API → 대시보드/이메일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70048" cy="2103120"/>
          </a:xfrm>
          <a:prstGeom prst="roundRect">
            <a:avLst>
              <a:gd name="adj" fmla="val 391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2670048" cy="82296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36829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B7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" y="262432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8096" y="3099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3B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yfinance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미·한 종목 가격 수집 (주말 skip · KR 거래량 가드)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91256" y="27889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65576" y="2148840"/>
            <a:ext cx="2670048" cy="2103120"/>
          </a:xfrm>
          <a:prstGeom prst="roundRect">
            <a:avLst>
              <a:gd name="adj" fmla="val 391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5576" y="2148840"/>
            <a:ext cx="2670048" cy="8229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15" name="Text 13"/>
          <p:cNvSpPr/>
          <p:nvPr/>
        </p:nvSpPr>
        <p:spPr>
          <a:xfrm>
            <a:off x="3685032" y="236829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85032" y="262432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정규화·점수화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85032" y="3099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toUsd() · 패권점수 · MFI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85032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네이티브 통화 저장 → 응답 직전 USD 변환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08192" y="27889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82512" y="2148840"/>
            <a:ext cx="2670048" cy="2103120"/>
          </a:xfrm>
          <a:prstGeom prst="roundRect">
            <a:avLst>
              <a:gd name="adj" fmla="val 391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2512" y="2148840"/>
            <a:ext cx="2670048" cy="82296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6601968" y="236829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01968" y="262432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01968" y="3099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7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 · SQLite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01968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score_history 시계열 적재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25128" y="278892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299448" y="2148840"/>
            <a:ext cx="2670048" cy="2103120"/>
          </a:xfrm>
          <a:prstGeom prst="roundRect">
            <a:avLst>
              <a:gd name="adj" fmla="val 3913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299448" y="2148840"/>
            <a:ext cx="2670048" cy="82296"/>
          </a:xfrm>
          <a:prstGeom prst="rect">
            <a:avLst/>
          </a:prstGeom>
          <a:solidFill>
            <a:srgbClr val="9B8CF0"/>
          </a:solidFill>
          <a:ln/>
        </p:spPr>
      </p:sp>
      <p:sp>
        <p:nvSpPr>
          <p:cNvPr id="29" name="Text 27"/>
          <p:cNvSpPr/>
          <p:nvPr/>
        </p:nvSpPr>
        <p:spPr>
          <a:xfrm>
            <a:off x="9518904" y="236829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B8C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18904" y="2624328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18904" y="30998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B8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API · Resend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518904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 + 매일 아침 이메일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956048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95604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Next.js 16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65960" y="4956048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65960" y="495604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 19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191256" y="4956048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91256" y="495604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08576" y="4956048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495604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Tailwind 4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25896" y="4956048"/>
            <a:ext cx="1540764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25896" y="4956048"/>
            <a:ext cx="1540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Framer Motion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731252" y="4956048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31252" y="495604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Recharts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56548" y="4956048"/>
            <a:ext cx="1348740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56548" y="4956048"/>
            <a:ext cx="1348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Drizzle ORM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469880" y="4956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69880" y="4956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SQLite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5413248"/>
            <a:ext cx="1924812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5413248"/>
            <a:ext cx="19248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Python · yfinance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638044" y="5413248"/>
            <a:ext cx="1348740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38044" y="5413248"/>
            <a:ext cx="1348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React Query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151376" y="5413248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51376" y="541324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Supabase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376672" y="54132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76672" y="5413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Resend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501384" y="54132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01384" y="5413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Vitest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626096" y="5413248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A4B0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6096" y="5413248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Playwright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ENGINEERING · FOR BUILDERS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디테일에서 정확도가 갈린다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합류하면 만지게 될 코드 — ‘정합성 우선’ 문화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76272"/>
            <a:ext cx="64008" cy="145389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311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통화 정규화 SoT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88336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환율·변환을 한 파일(lib/currency.ts)에 모으고, 모든 신규 API에 체크리스트로 강제 — 이중 환산 버그 방지.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2011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91072" y="2176272"/>
            <a:ext cx="64008" cy="1453896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223113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B7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 재현성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5392" y="2688336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패권점수 EMA를 전 종목 재계산으로 재현 검증 — 시계열의 신뢰성 확보.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325112"/>
            <a:ext cx="64008" cy="1453896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99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표시 레이어 분리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837176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통화 토글은 순수 표시 레이어로 분리해 DB/API/캐시 무변경 (next-themes 패턴).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91072" y="41605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4325112"/>
            <a:ext cx="64008" cy="1453896"/>
          </a:xfrm>
          <a:prstGeom prst="rect">
            <a:avLst/>
          </a:prstGeom>
          <a:solidFill>
            <a:srgbClr val="9B8CF0"/>
          </a:solidFill>
          <a:ln/>
        </p:spPr>
      </p:sp>
      <p:sp>
        <p:nvSpPr>
          <p:cNvPr id="20" name="Text 18"/>
          <p:cNvSpPr/>
          <p:nvPr/>
        </p:nvSpPr>
        <p:spPr>
          <a:xfrm>
            <a:off x="6565392" y="437997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8C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테스트·회귀 방지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65392" y="4837176"/>
            <a:ext cx="4873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Vitest(유닛) · Playwright(E2E)로 회귀를 잡는다.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투자자에게는 한 줄로: 재현 가능하고, 테스트되며, 통화 정합성이 코드로 강제된다.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 지형 속 우리의 자리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개략적 포지셔닝 — 우리는 ‘산업·섹터 탑다운 × 한·미 통합 × 통화 정규화’의 교집합을 노린다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27632"/>
                <a:gridCol w="1627632"/>
                <a:gridCol w="1627632"/>
                <a:gridCol w="1627632"/>
                <a:gridCol w="162763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산업·섹터 탑다운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한·미 통합 비교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통화 USD 정규화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산업 패권 점수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무료 접근</a:t>
                      </a:r>
                      <a:endParaRPr lang="en-US" sz="11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9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6F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Bloomberg / 단말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4F6F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4F6F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072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✕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6F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Koyfin / Finviz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072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✕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072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✕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7B46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4F6F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네이버 증권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072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✕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072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✕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072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✕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072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✕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4F6F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2CE8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Sector King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7D6A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7D6A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7D6A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7D6A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7D6A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●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D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532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</a:t>
            </a:r>
            <a:pPr indent="0" marL="0"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강점/차별   </a:t>
            </a:r>
            <a:pPr indent="0" marL="0">
              <a:buNone/>
            </a:pPr>
            <a:r>
              <a:rPr lang="en-US" sz="11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</a:t>
            </a:r>
            <a:pPr indent="0" marL="0"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제공   </a:t>
            </a:r>
            <a:pPr indent="0" marL="0">
              <a:buNone/>
            </a:pPr>
            <a:r>
              <a:rPr lang="en-US" sz="11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△</a:t>
            </a:r>
            <a:pPr indent="0" marL="0"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부분/제한   </a:t>
            </a:r>
            <a:pPr indent="0" marL="0">
              <a:buNone/>
            </a:pPr>
            <a:r>
              <a:rPr lang="en-US" sz="1100" b="1" dirty="0">
                <a:solidFill>
                  <a:srgbClr val="F072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✕</a:t>
            </a:r>
            <a:pPr indent="0" marL="0"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약함/미제공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공개 정보 기반 개략 포지셔닝이며, 경쟁사 기능은 변동될 수 있음.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산업 단위로 시장을 읽고 싶은 개인 투자자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규모 추정은 bottom-up 가설 — 추적 시총($68.72T)은 ‘데이터 범위’이지 ‘매출 시장’이 아니다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6858000" cy="1078992"/>
          </a:xfrm>
          <a:prstGeom prst="roundRect">
            <a:avLst>
              <a:gd name="adj" fmla="val 5085"/>
            </a:avLst>
          </a:prstGeom>
          <a:solidFill>
            <a:srgbClr val="141A24"/>
          </a:solidFill>
          <a:ln w="17780">
            <a:solidFill>
              <a:srgbClr val="E7B4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86000"/>
            <a:ext cx="82296" cy="1078992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95728"/>
            <a:ext cx="1371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40280" y="2395728"/>
            <a:ext cx="5166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한·미 주식에 투자하는 개인 투자자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‘산업·섹터 관점 + 한·미 통합’ 정보 수요 (추정)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47872"/>
            <a:ext cx="6858000" cy="1078992"/>
          </a:xfrm>
          <a:prstGeom prst="roundRect">
            <a:avLst>
              <a:gd name="adj" fmla="val 5085"/>
            </a:avLst>
          </a:prstGeom>
          <a:solidFill>
            <a:srgbClr val="141A24"/>
          </a:solidFill>
          <a:ln w="17780">
            <a:solidFill>
              <a:srgbClr val="63B7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547872"/>
            <a:ext cx="82296" cy="1078992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7600"/>
            <a:ext cx="1371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B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40280" y="3657600"/>
            <a:ext cx="5166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해외주식 동시 투자 + 유료 지불 의향층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수 × 연 구독료로 산정 (가설)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09744"/>
            <a:ext cx="6858000" cy="1078992"/>
          </a:xfrm>
          <a:prstGeom prst="roundRect">
            <a:avLst>
              <a:gd name="adj" fmla="val 5085"/>
            </a:avLst>
          </a:prstGeom>
          <a:solidFill>
            <a:srgbClr val="141A24"/>
          </a:solidFill>
          <a:ln w="17780">
            <a:solidFill>
              <a:srgbClr val="57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809744"/>
            <a:ext cx="82296" cy="1078992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19472"/>
            <a:ext cx="1371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7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240280" y="4919472"/>
            <a:ext cx="5166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1~2년 확보 가능 유료 사용자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베타 전환율 검증 후 산정 (측정 예정)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0" y="2286000"/>
            <a:ext cx="3886200" cy="3602736"/>
          </a:xfrm>
          <a:prstGeom prst="roundRect">
            <a:avLst>
              <a:gd name="adj" fmla="val 2284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28432" y="25054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규모 산정 원칙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28432" y="2980944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top-down 단독 금지. ‘사용자 수 × ARPU’의 bottom-up으로 SAM/SOM을 구성하고 베타 데이터로 보정한다.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예) 해외주식 투자자 수 × 유료 전환율 × 연 구독료.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추적 시총 $68.72T는 데이터 범위일 뿐, 매출 가능 시장(SAM)이 아니다.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CURRENT STAGE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지금 단계 — 라이브 가동(프리런치)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 작동하는 제품. 성장 지표는 측정을 시작하는 단계로, 정직하게 공개한다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40680" cy="1078992"/>
          </a:xfrm>
          <a:prstGeom prst="roundRect">
            <a:avLst>
              <a:gd name="adj" fmla="val 7627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213969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7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14600" y="213969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 페이지 출시 (대시보드·패권지도·자금흐름·등락율·트렌드·종목상세·가이드)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91072" y="2011680"/>
            <a:ext cx="5440680" cy="1078992"/>
          </a:xfrm>
          <a:prstGeom prst="roundRect">
            <a:avLst>
              <a:gd name="adj" fmla="val 7627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28816" y="213969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407 / 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57032" y="213969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추적 종목 / 산업 — USD 정규화·패권점수·MFI 산출 가동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5440680" cy="1078992"/>
          </a:xfrm>
          <a:prstGeom prst="roundRect">
            <a:avLst>
              <a:gd name="adj" fmla="val 7627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" y="34930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B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2회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514600" y="349300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수집·갱신 파이프라인 운영 (KST 16:30 / 07:00)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91072" y="3364992"/>
            <a:ext cx="5440680" cy="1078992"/>
          </a:xfrm>
          <a:prstGeom prst="roundRect">
            <a:avLst>
              <a:gd name="adj" fmla="val 7627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28816" y="349300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8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매일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57032" y="349300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아침 마켓 리포트 이메일 발송 — 핵심 리텐션 후크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202938"/>
          </a:solidFill>
          <a:ln w="12700">
            <a:solidFill>
              <a:srgbClr val="E7B4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측정 목표 (KPI)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52297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이메일 구독자 수 · 주간 재방문율(WAU/Return) · 종목 상세 도달률 · 구독 결제 의향 — 베타에서 측정 시작.   [실측치는 확정 후 갱신]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MONETIZATION · HYPOTHESIS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무료로 신뢰를 쌓고, 깊이에 과금한다 (가설)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단계는 미검증 가설 — ‘가설 → 실험 → 마일스톤’ 구조로 검증한다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3611880" cy="82296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404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B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4672" y="28620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무료 진입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246120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대시보드 · 산업 지도 · 기본 자금흐름 · 아침 리포트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" y="4480560"/>
            <a:ext cx="3099816" cy="0"/>
          </a:xfrm>
          <a:prstGeom prst="line">
            <a:avLst/>
          </a:prstGeom>
          <a:noFill/>
          <a:ln w="12700">
            <a:solidFill>
              <a:srgbClr val="2A3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57200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방법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E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기반 확보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214884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148840"/>
            <a:ext cx="3611880" cy="8229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15" name="Text 13"/>
          <p:cNvSpPr/>
          <p:nvPr/>
        </p:nvSpPr>
        <p:spPr>
          <a:xfrm>
            <a:off x="4690872" y="2404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90872" y="28620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(가설)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0872" y="3246120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종목 상세 시계열 · peer 비교 · 알림 · 심화 인사이트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90872" y="4480560"/>
            <a:ext cx="3099816" cy="0"/>
          </a:xfrm>
          <a:prstGeom prst="line">
            <a:avLst/>
          </a:prstGeom>
          <a:noFill/>
          <a:ln w="12700">
            <a:solidFill>
              <a:srgbClr val="2A34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457200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방법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E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베타 결제 의향 N% 검증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21040" y="2148840"/>
            <a:ext cx="3611880" cy="3200400"/>
          </a:xfrm>
          <a:prstGeom prst="roundRect">
            <a:avLst>
              <a:gd name="adj" fmla="val 2571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2148840"/>
            <a:ext cx="3611880" cy="82296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8577072" y="240487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7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B2B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77072" y="28620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제공 (가설)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77072" y="3246120"/>
            <a:ext cx="30998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정규화 데이터 · 패권점수 피드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77072" y="4480560"/>
            <a:ext cx="3099816" cy="0"/>
          </a:xfrm>
          <a:prstGeom prst="line">
            <a:avLst/>
          </a:prstGeom>
          <a:noFill/>
          <a:ln w="12700">
            <a:solidFill>
              <a:srgbClr val="2A34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7072" y="457200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 방법
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E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파일럿 1~2곳 확보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원칙: 수익화 수치는 사실이 아닌 가설로만 제시 — 베타 사용자 반응으로 우선순위를 정한다.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라이브 가동에서, 깊이와 폭으로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단계에 ‘검증 가능한 지표’를 붙인다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2377440"/>
            <a:ext cx="36576" cy="3383280"/>
          </a:xfrm>
          <a:prstGeom prst="rect">
            <a:avLst/>
          </a:prstGeom>
          <a:solidFill>
            <a:srgbClr val="2A3445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2404872"/>
            <a:ext cx="365760" cy="365760"/>
          </a:xfrm>
          <a:prstGeom prst="ellipse">
            <a:avLst/>
          </a:prstGeom>
          <a:solidFill>
            <a:srgbClr val="57D6A0"/>
          </a:solidFill>
          <a:ln w="38100">
            <a:solidFill>
              <a:srgbClr val="0A0D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240280"/>
            <a:ext cx="10104120" cy="1051560"/>
          </a:xfrm>
          <a:prstGeom prst="roundRect">
            <a:avLst>
              <a:gd name="adj" fmla="val 7826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23591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7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2441448"/>
            <a:ext cx="0" cy="640080"/>
          </a:xfrm>
          <a:prstGeom prst="line">
            <a:avLst/>
          </a:prstGeom>
          <a:noFill/>
          <a:ln w="12700">
            <a:solidFill>
              <a:srgbClr val="2A34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38658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출시 완료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2386584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USD 정규화 · 패권점수 · 74일 시계열 · 지역/통화 토글 · 일일 이메일 · 종목 상세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3621024"/>
            <a:ext cx="365760" cy="365760"/>
          </a:xfrm>
          <a:prstGeom prst="ellipse">
            <a:avLst/>
          </a:prstGeom>
          <a:solidFill>
            <a:srgbClr val="E7B469"/>
          </a:solidFill>
          <a:ln w="38100">
            <a:solidFill>
              <a:srgbClr val="0A0D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456432"/>
            <a:ext cx="10104120" cy="1051560"/>
          </a:xfrm>
          <a:prstGeom prst="roundRect">
            <a:avLst>
              <a:gd name="adj" fmla="val 7826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83080" y="3575304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154680" y="3657600"/>
            <a:ext cx="0" cy="640080"/>
          </a:xfrm>
          <a:prstGeom prst="line">
            <a:avLst/>
          </a:prstGeom>
          <a:noFill/>
          <a:ln w="12700">
            <a:solidFill>
              <a:srgbClr val="2A34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60273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리텐션·개인화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3602736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알림 · 관심목록 · 커버리지 확대 · 이메일 고도화  → 지표: 재방문율·구독자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4837176"/>
            <a:ext cx="365760" cy="365760"/>
          </a:xfrm>
          <a:prstGeom prst="ellipse">
            <a:avLst/>
          </a:prstGeom>
          <a:solidFill>
            <a:srgbClr val="63B7E6"/>
          </a:solidFill>
          <a:ln w="38100">
            <a:solidFill>
              <a:srgbClr val="0A0D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54480" y="4672584"/>
            <a:ext cx="10104120" cy="1051560"/>
          </a:xfrm>
          <a:prstGeom prst="roundRect">
            <a:avLst>
              <a:gd name="adj" fmla="val 7826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83080" y="4791456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B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154680" y="4873752"/>
            <a:ext cx="0" cy="640080"/>
          </a:xfrm>
          <a:prstGeom prst="line">
            <a:avLst/>
          </a:prstGeom>
          <a:noFill/>
          <a:ln w="12700">
            <a:solidFill>
              <a:srgbClr val="2A34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4818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수익화·확장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35040" y="48188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결제 검증 · API/B2B 파일럿 · 시장 범위 확장 검토  → 지표: 전환율·매출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RISKS &amp; MITIGATION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리스크를 숨기지 않는다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투자자가 가장 먼저 묻는 것들 — 그리고 우리의 대응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76272"/>
            <a:ext cx="64008" cy="145389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128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소스 의존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2615184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072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리스크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수집이 yfinance(비공식 소스)에 의존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대응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유료/공식 피드로의 전환 경로 확보 · 정합성 가드 코드로 이상치 차단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91072" y="20116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91072" y="2176272"/>
            <a:ext cx="64008" cy="1453896"/>
          </a:xfrm>
          <a:prstGeom prst="rect">
            <a:avLst/>
          </a:prstGeom>
          <a:solidFill>
            <a:srgbClr val="63B7E6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392" y="22128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아님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65392" y="2615184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072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리스크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2회 갱신 — 트레이딩 신호용 아님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65392" y="3108960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대응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포지셔닝을 ‘산업 흐름·중장기 관점’으로 명확화(데이트레이딩 아님)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325112"/>
            <a:ext cx="64008" cy="1453896"/>
          </a:xfrm>
          <a:prstGeom prst="rect">
            <a:avLst/>
          </a:prstGeom>
          <a:solidFill>
            <a:srgbClr val="57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616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한정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4764024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072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리스크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시장이 아닌 407종목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257800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대응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대표성 기준 큐레이션 + 커버리지 단계적 확대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91072" y="41605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91072" y="4325112"/>
            <a:ext cx="64008" cy="1453896"/>
          </a:xfrm>
          <a:prstGeom prst="rect">
            <a:avLst/>
          </a:prstGeom>
          <a:solidFill>
            <a:srgbClr val="9B8CF0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43616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규모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65392" y="4764024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072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리스크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소수 코어팀 / 초기 단계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65392" y="5257800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7D6A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대응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합류자 모집 + 자동화된 파이프라인으로 운영 부담 최소화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28016" cy="128016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TEAM &amp; JOIN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함께 자본의 지도를 그릴 사람을 찾습니다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실데이터·실사용자가 있는 라이브 제품에서, 최신 풀스택을 처음부터 다룰 기회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0E121A"/>
          </a:solidFill>
          <a:ln w="25400">
            <a:solidFill>
              <a:srgbClr val="63B7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505456"/>
            <a:ext cx="237744" cy="237744"/>
          </a:xfrm>
          <a:prstGeom prst="ellipse">
            <a:avLst/>
          </a:prstGeom>
          <a:solidFill>
            <a:srgbClr val="63B7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프론트엔드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63B7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Recharts · Framer Motion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시각화·인터랙션, 종목/섹터 화면 고도화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34840" y="210312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395728"/>
            <a:ext cx="457200" cy="457200"/>
          </a:xfrm>
          <a:prstGeom prst="ellipse">
            <a:avLst/>
          </a:prstGeom>
          <a:solidFill>
            <a:srgbClr val="0E121A"/>
          </a:solidFill>
          <a:ln w="25400">
            <a:solidFill>
              <a:srgbClr val="E7B4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2505456"/>
            <a:ext cx="237744" cy="237744"/>
          </a:xfrm>
          <a:prstGeom prst="ellipse">
            <a:avLst/>
          </a:prstGeom>
          <a:solidFill>
            <a:srgbClr val="E7B469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엔지니어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709160" y="33832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수집 파이프라인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8862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소스 다변화 · 정합성 · 점수/MFI 고도화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321040" y="2103120"/>
            <a:ext cx="3611880" cy="2606040"/>
          </a:xfrm>
          <a:prstGeom prst="roundRect">
            <a:avLst>
              <a:gd name="adj" fmla="val 3158"/>
            </a:avLst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0" y="2395728"/>
            <a:ext cx="457200" cy="457200"/>
          </a:xfrm>
          <a:prstGeom prst="ellipse">
            <a:avLst/>
          </a:prstGeom>
          <a:solidFill>
            <a:srgbClr val="0E121A"/>
          </a:solidFill>
          <a:ln w="25400">
            <a:solidFill>
              <a:srgbClr val="57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5088" y="2505456"/>
            <a:ext cx="237744" cy="237744"/>
          </a:xfrm>
          <a:prstGeom prst="ellipse">
            <a:avLst/>
          </a:prstGeom>
          <a:solidFill>
            <a:srgbClr val="57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2971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풀스택 / 프로덕트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595360" y="33832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7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Drizzle · 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3886200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기능 전 영역 · 개인화·알림·과금 실험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202938"/>
          </a:solidFill>
          <a:ln w="12700">
            <a:solidFill>
              <a:srgbClr val="E7B4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합류하면 배우는 것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4681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혼합통화 정규화 설계(SoT) · 시계열 스코어링(EMA) · 수집→표시 풀스택 자동화 · 작은 팀에서 의사결정에 직접 참여.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 KING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317175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B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pPr algn="r" indent="0" marL="0">
              <a:buNone/>
            </a:pPr>
            <a:r>
              <a:rPr lang="en-US" sz="1000" dirty="0">
                <a:solidFill>
                  <a:srgbClr val="6E79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 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97135" y="4663440"/>
            <a:ext cx="3840480" cy="3840480"/>
          </a:xfrm>
          <a:prstGeom prst="ellipse">
            <a:avLst/>
          </a:prstGeom>
          <a:solidFill>
            <a:srgbClr val="141A24"/>
          </a:solidFill>
          <a:ln w="12700">
            <a:solidFill>
              <a:srgbClr val="2A34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22112" y="1325880"/>
            <a:ext cx="146304" cy="146304"/>
          </a:xfrm>
          <a:prstGeom prst="rect">
            <a:avLst/>
          </a:prstGeom>
          <a:solidFill>
            <a:srgbClr val="E7B469"/>
          </a:solidFill>
          <a:ln/>
        </p:spPr>
      </p:sp>
      <p:sp>
        <p:nvSpPr>
          <p:cNvPr id="6" name="Shape 4"/>
          <p:cNvSpPr/>
          <p:nvPr/>
        </p:nvSpPr>
        <p:spPr>
          <a:xfrm>
            <a:off x="6123280" y="1325880"/>
            <a:ext cx="146304" cy="146304"/>
          </a:xfrm>
          <a:prstGeom prst="rect">
            <a:avLst/>
          </a:prstGeom>
          <a:solidFill>
            <a:srgbClr val="E7B469"/>
          </a:solidFill>
          <a:ln w="12700">
            <a:solidFill>
              <a:srgbClr val="E7B4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1828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THE MAP OF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22860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시장의 돈이 </a:t>
            </a:r>
            <a:pPr algn="ctr" indent="0" marL="0">
              <a:buNone/>
            </a:pPr>
            <a:r>
              <a:rPr lang="en-US" sz="3800" b="1" dirty="0">
                <a:solidFill>
                  <a:srgbClr val="E7B46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어디로</a:t>
            </a:r>
            <a:pPr algn="ctr" indent="0" marL="0">
              <a:buNone/>
            </a:pPr>
            <a:r>
              <a:rPr lang="en-US" sz="3800" b="1" dirty="0">
                <a:solidFill>
                  <a:srgbClr val="F4F6F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흐르는가.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320040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4B0C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미국·한국 407종목, 산업 단위로 매일 추적합니다. 투자자에게는 새로운 관점을 — 합류자에게는 끝까지 만들 제품을.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55368" y="4069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E7B4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55368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E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엔젤 · 시드 미팅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07128" y="4069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E7B4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7128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E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합류 (프론트 · 데이터)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58888" y="4069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202938"/>
          </a:solidFill>
          <a:ln w="12700">
            <a:solidFill>
              <a:srgbClr val="E7B4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8888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CE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파일럿 · 데이터 협업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01288" y="5029200"/>
            <a:ext cx="4389120" cy="640080"/>
          </a:xfrm>
          <a:prstGeom prst="roundRect">
            <a:avLst>
              <a:gd name="adj" fmla="val 50000"/>
            </a:avLst>
          </a:prstGeom>
          <a:solidFill>
            <a:srgbClr val="E7B469"/>
          </a:solidFill>
          <a:ln/>
        </p:spPr>
      </p:sp>
      <p:sp>
        <p:nvSpPr>
          <p:cNvPr id="17" name="Text 15"/>
          <p:cNvSpPr/>
          <p:nvPr/>
        </p:nvSpPr>
        <p:spPr>
          <a:xfrm>
            <a:off x="3901288" y="50292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D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byunginhb@gmail.com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0" y="58521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6E79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sector-king.com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Sector King — Investor &amp; Builder Deck</dc:title>
  <dc:subject>PptxGenJS Presentation</dc:subject>
  <dc:creator>Sector King</dc:creator>
  <cp:lastModifiedBy>Sector King</cp:lastModifiedBy>
  <cp:revision>1</cp:revision>
  <dcterms:created xsi:type="dcterms:W3CDTF">2026-06-16T15:35:23Z</dcterms:created>
  <dcterms:modified xsi:type="dcterms:W3CDTF">2026-06-16T15:35:23Z</dcterms:modified>
</cp:coreProperties>
</file>